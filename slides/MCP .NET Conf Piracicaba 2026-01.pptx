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7"/>
  </p:notesMasterIdLst>
  <p:handoutMasterIdLst>
    <p:handoutMasterId r:id="rId28"/>
  </p:handoutMasterIdLst>
  <p:sldIdLst>
    <p:sldId id="1393" r:id="rId8"/>
    <p:sldId id="1834" r:id="rId9"/>
    <p:sldId id="1816" r:id="rId10"/>
    <p:sldId id="1765" r:id="rId11"/>
    <p:sldId id="1518" r:id="rId12"/>
    <p:sldId id="1824" r:id="rId13"/>
    <p:sldId id="1821" r:id="rId14"/>
    <p:sldId id="1826" r:id="rId15"/>
    <p:sldId id="1817" r:id="rId16"/>
    <p:sldId id="1812" r:id="rId17"/>
    <p:sldId id="1815" r:id="rId18"/>
    <p:sldId id="1832" r:id="rId19"/>
    <p:sldId id="1838" r:id="rId20"/>
    <p:sldId id="1839" r:id="rId21"/>
    <p:sldId id="1840" r:id="rId22"/>
    <p:sldId id="1831" r:id="rId23"/>
    <p:sldId id="1835" r:id="rId24"/>
    <p:sldId id="1837" r:id="rId25"/>
    <p:sldId id="1750" r:id="rId26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34"/>
            <p14:sldId id="1816"/>
            <p14:sldId id="1765"/>
            <p14:sldId id="1518"/>
            <p14:sldId id="1824"/>
            <p14:sldId id="1821"/>
            <p14:sldId id="1826"/>
            <p14:sldId id="1817"/>
            <p14:sldId id="1812"/>
            <p14:sldId id="1815"/>
            <p14:sldId id="1832"/>
            <p14:sldId id="1838"/>
            <p14:sldId id="1839"/>
            <p14:sldId id="1840"/>
          </p14:sldIdLst>
        </p14:section>
        <p14:section name="Finalizando" id="{CF622469-3E87-46BA-8ED6-912C47B00EF3}">
          <p14:sldIdLst>
            <p14:sldId id="1831"/>
            <p14:sldId id="1835"/>
            <p14:sldId id="1837"/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6896C-F711-4682-8EAE-FC8AC9DAC39C}" v="1698" dt="2025-08-20T18:28:52.689"/>
    <p1510:client id="{B47DCE5D-CDB6-27A6-09DB-752FF79438BF}" v="418" dt="2025-08-20T17:45: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08" autoAdjust="0"/>
    <p:restoredTop sz="79472" autoAdjust="0"/>
  </p:normalViewPr>
  <p:slideViewPr>
    <p:cSldViewPr>
      <p:cViewPr>
        <p:scale>
          <a:sx n="33" d="100"/>
          <a:sy n="33" d="100"/>
        </p:scale>
        <p:origin x="2731" y="1123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1/10/2026 6:08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1/10/2026 6:07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6:40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0026-45AA-519F-346F-FFA37972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9378C6-A486-2AF8-DBA6-64993571B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E49CB2-6730-1B88-A5B4-D0A24AD7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4D28189-4AD9-B890-A2D9-3806E5AF5F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BA62E7-40F1-07AE-BCE5-F492E4C3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7531B03-A448-1A00-8858-049C8CD2889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6:36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22082E-8AA7-AE50-D0B0-F4BAEF2219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98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6:39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76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6:39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E1B-9B13-AB01-EB13-9FA92E46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4E6F95-F0F4-8AEF-81D0-C0978A51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74A610-C848-83D2-D843-C3A4DE52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4D361A1-9C79-0076-B4B2-FC820A9299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01309-B3AC-9B6C-EE64-925EC2D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2BC5179-4CC5-B5DF-5FEE-B51ABD2BA9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6:07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C7A93F-74AC-2D6E-C48F-1397AAB227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7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B979-83B4-44A6-1009-80F883F9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7BA230-6F1D-2512-BD51-9AFD352C9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5B5DA1-0621-7263-CC52-DCCAAD3D5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E614D36-D1AA-B41D-FA4C-33E0F69BDE6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ADC170-C085-12D2-1CC7-E29A0EE4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8323DF6-249B-E215-9595-868228D96B1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6:07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523ABC-E109-34DE-9C4F-A948410C77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91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A152-D77A-36BB-E89C-AEB41406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06164C-BC18-FA15-9FA7-3677EE90F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146C92-235A-01EA-78EE-5797B396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C4E3838-196D-A233-595A-708CEEFE09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4E9D7C-3217-39DE-4E0B-A979DB2B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2A71E4F-1442-AE35-1CD9-05ED65F322E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7:09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36D033-0E9E-7245-FC1D-16E07775EC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10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5B71-82AC-A307-2167-063F5A62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16B90E-C3B7-A917-FFAC-0891A4B36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C1598A-0786-D0F9-9CC2-195FFDBB7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987A26C-C085-8164-222B-1CD0BFEC908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9A6D47-9457-40B9-A683-8672E251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7977A7B-4553-A9BD-FBD8-B8FA4CE2074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6:07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D5FA0C-94DF-0680-148A-C981343B99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584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6:36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57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F927-ACA4-F9C3-FA07-4B9F7318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8A4CAE-93EF-BB18-2C57-A1AA2F4FA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A57D6F-CB28-B9D8-1A3C-78DC7C613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22240C4-2154-4D09-4525-BC0CA57CF44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FC962-3A65-E210-AACB-AAA0900F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B23C1C8-0B90-8A22-6787-70B0DA9FEF1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6:07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6547A1-C2EB-B88C-C2EE-6B3839C1E8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7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196A0-7E25-035E-0827-A6B5B73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D38A8F-9AAC-56A6-1078-2132D9F51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9C6CC2-9832-229E-AFF2-0860A6053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5CC53258-94F3-BEF8-64BA-0C3F596D74C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7CEC06-C16E-3D90-2E0D-EA4F8577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799F1B9-71A0-9B76-ACAC-A760238751C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6:14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416032-5E32-2584-44AA-F33EDFE6AA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559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D283-A11B-9DFB-1C33-60757137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D6348F-F52C-7914-E15A-F00BF8DDC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DEB05A-BE4E-72D8-5813-0558838A9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F555CA3-409E-0D20-CF59-BA2EE60521C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4AC038-13E0-2544-8649-D7A682E1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EA132E7-7312-2ECC-C59F-9413670531F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7:01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D34F6C-4431-814A-7548-F6F25C5982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624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6998C-2D7B-83DC-201E-90635A7E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BD2B74-746B-AF3C-8453-DAD4CBC43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B88029-AE0F-3377-BC0E-D1085DB9A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01A4603-116B-48AF-01AB-5E007E2CD5F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9F2455-2209-C0ED-E904-B7DEEA83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650A454-3581-8444-2B1E-C567FD3A8B7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7:17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C09D15-6515-A3C6-CF81-4E98DD6151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00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14E6-5FCC-A09B-3CAD-9BE0CD12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8DE0F95-4275-0CDC-5656-785621777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498DD0-B486-1A69-B359-562AE4E35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2E667F7-2256-1451-1B97-F8412C231A7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414696-EC39-C571-30CD-067C7E51F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F434549-C261-48C6-9850-6D3C9E3A28F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7:15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B81356-E758-2C9E-FC3B-1955212BEF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816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CD5F-A957-2486-E570-13ABF462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0E150-6C7C-663D-CB5B-BC509118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F6217-4B5E-9776-6A5D-73A904F33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1736D9-C4CA-341C-5F63-DB9D4283AEB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F603-05E7-2C4F-FF82-9C13ECE1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FE8665-83D1-12FB-6702-A61E87F87C9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1/10/2026 6:07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AC580-6BD2-13A1-AE9E-970FEF5853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83023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6C7B-295C-CBDE-C640-70082E5F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B523A8-84E7-7B1D-D1DE-217403C7B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4C340E-8CF3-BCC1-A488-D9991B7C7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E1EC2A5F-BEF0-4BED-B1E6-D192DE9FE99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852DC0-3FBF-A6D6-134D-9155802B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84367B0E-015C-76A2-CD4E-F0595CB4BDD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6:46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426BB1-7CF3-83A1-65C4-F800DE360CE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1120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D910-1852-DA62-6006-8F878531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95310C-C8B2-273E-074E-1D4EAC54A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769B94-131D-798A-5D32-554043F10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AB1270F-F25A-CEFE-65DE-BBD7E1BAE27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1E95-5B1D-55C4-1F76-91950ED3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1597B1D-847A-7C35-B91D-93C98F92965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1/10/2026 6:47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C017F4-61A5-253D-C4F6-B097B860A3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656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1/10/2026 6:07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71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  <p:sldLayoutId id="2147484479" r:id="rId20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25.pn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25.png"/><Relationship Id="rId4" Type="http://schemas.openxmlformats.org/officeDocument/2006/relationships/image" Target="../media/image3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220662"/>
            <a:ext cx="11201400" cy="2297169"/>
          </a:xfrm>
        </p:spPr>
        <p:txBody>
          <a:bodyPr/>
          <a:lstStyle/>
          <a:p>
            <a:r>
              <a:rPr lang="pt-BR" b="1" dirty="0" err="1"/>
              <a:t>MCPs</a:t>
            </a:r>
            <a:r>
              <a:rPr lang="pt-BR" b="1" dirty="0"/>
              <a:t> + .NET 10</a:t>
            </a:r>
            <a:br>
              <a:rPr lang="pt-BR" b="1" dirty="0"/>
            </a:br>
            <a:r>
              <a:rPr lang="pt-BR" sz="4400" b="1" dirty="0"/>
              <a:t>Da implementação ao gerenciamento das integrações com IA</a:t>
            </a:r>
            <a:endParaRPr lang="pt-BR" sz="32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93166F4-0C26-A656-FAB3-8DF778712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982" y="2963685"/>
            <a:ext cx="6111478" cy="1872045"/>
          </a:xfrm>
        </p:spPr>
        <p:txBody>
          <a:bodyPr/>
          <a:lstStyle/>
          <a:p>
            <a:r>
              <a:rPr lang="en-US" b="1" dirty="0"/>
              <a:t>Renato </a:t>
            </a:r>
            <a:r>
              <a:rPr lang="en-US" b="1" dirty="0" err="1"/>
              <a:t>Groffe</a:t>
            </a:r>
            <a:endParaRPr lang="en-US" b="1" dirty="0"/>
          </a:p>
          <a:p>
            <a:r>
              <a:rPr lang="en-US" sz="2800" dirty="0"/>
              <a:t>Microsoft MVP, Docker Captain, MTAC</a:t>
            </a:r>
          </a:p>
          <a:p>
            <a:r>
              <a:rPr lang="en-US" sz="2800" dirty="0"/>
              <a:t>linkedin.com/in/</a:t>
            </a:r>
            <a:r>
              <a:rPr lang="en-US" sz="2800" dirty="0" err="1"/>
              <a:t>renatogroffe</a:t>
            </a:r>
            <a:br>
              <a:rPr lang="en-US" sz="2800" dirty="0"/>
            </a:br>
            <a:r>
              <a:rPr lang="en-US" sz="2800" dirty="0"/>
              <a:t>renatogroffe.medium.com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5EB898B6-BD41-1487-85F9-339746E47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415" y="3380988"/>
            <a:ext cx="1399297" cy="1399297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DAB3D7D9-23AC-E832-BBBF-438759640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6355" y="3380988"/>
            <a:ext cx="1399296" cy="1399296"/>
          </a:xfrm>
          <a:prstGeom prst="rect">
            <a:avLst/>
          </a:prstGeom>
        </p:spPr>
      </p:pic>
      <p:pic>
        <p:nvPicPr>
          <p:cNvPr id="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207249F3-C6DD-6A88-123C-D7BA582DC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Uma imagem contendo desenho&#10;&#10;Descrição gerada automaticamente">
            <a:extLst>
              <a:ext uri="{FF2B5EF4-FFF2-40B4-BE49-F238E27FC236}">
                <a16:creationId xmlns:a16="http://schemas.microsoft.com/office/drawing/2014/main" id="{BDDCA7C5-2F25-1A88-551E-AC6ADD9B7A8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590" r="25492"/>
          <a:stretch/>
        </p:blipFill>
        <p:spPr>
          <a:xfrm>
            <a:off x="2713037" y="5946344"/>
            <a:ext cx="2405044" cy="785896"/>
          </a:xfrm>
          <a:prstGeom prst="rect">
            <a:avLst/>
          </a:prstGeom>
        </p:spPr>
      </p:pic>
      <p:pic>
        <p:nvPicPr>
          <p:cNvPr id="8" name="Imagem 7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BF74CDF3-09FB-9504-063F-1DEB609CA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2370" y="5757844"/>
            <a:ext cx="1154100" cy="1154100"/>
          </a:xfrm>
          <a:prstGeom prst="rect">
            <a:avLst/>
          </a:prstGeom>
        </p:spPr>
      </p:pic>
      <p:pic>
        <p:nvPicPr>
          <p:cNvPr id="9" name="Imagem 8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3D2E6B4F-7523-815E-0EB0-A256145EB6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4809" y="5527652"/>
            <a:ext cx="1314450" cy="131445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C708E322-F1BB-3AFF-2987-194BF989D2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4153" y="5860184"/>
            <a:ext cx="2388967" cy="95558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28A7AE1D-4359-73C1-D5EB-7BB7F93485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40355" y="3196095"/>
            <a:ext cx="1769082" cy="17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614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630" y="470230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809" y="4639663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1" y="4324841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5237" y="3291903"/>
            <a:ext cx="2768301" cy="276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98BA-88D4-9686-83A1-33083A24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8855D-185C-79EB-DF0D-2BAF797C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91FA976-1BB4-CDE7-AC21-92068D1C197C}"/>
              </a:ext>
            </a:extLst>
          </p:cNvPr>
          <p:cNvSpPr>
            <a:spLocks noGrp="1"/>
          </p:cNvSpPr>
          <p:nvPr/>
        </p:nvSpPr>
        <p:spPr>
          <a:xfrm>
            <a:off x="1227137" y="3878262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ntendo objeto, relógio, placar, lendo&#10;&#10;O conteúdo gerado por IA pode estar incorreto.">
            <a:extLst>
              <a:ext uri="{FF2B5EF4-FFF2-40B4-BE49-F238E27FC236}">
                <a16:creationId xmlns:a16="http://schemas.microsoft.com/office/drawing/2014/main" id="{816198DA-D23A-F5F1-B5BA-6881527B6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37" y="4852294"/>
            <a:ext cx="4326096" cy="1635264"/>
          </a:xfrm>
          <a:prstGeom prst="rect">
            <a:avLst/>
          </a:prstGeom>
        </p:spPr>
      </p:pic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3A00999C-5C0C-5787-9730-01AF7B604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60" y="1214437"/>
            <a:ext cx="2508250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7461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02D58734-920C-E960-1401-72AF8DCB24E9}"/>
              </a:ext>
            </a:extLst>
          </p:cNvPr>
          <p:cNvSpPr>
            <a:spLocks noGrp="1"/>
          </p:cNvSpPr>
          <p:nvPr/>
        </p:nvSpPr>
        <p:spPr>
          <a:xfrm>
            <a:off x="1227137" y="4030662"/>
            <a:ext cx="9982201" cy="61401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100" b="1" dirty="0">
                <a:solidFill>
                  <a:schemeClr val="bg1"/>
                </a:solidFill>
              </a:rPr>
              <a:t>github.com/renatogroffe/mcp-dotnet10_devpira-2026-01</a:t>
            </a:r>
          </a:p>
        </p:txBody>
      </p:sp>
      <p:sp>
        <p:nvSpPr>
          <p:cNvPr id="3" name="Nosso Propsito">
            <a:extLst>
              <a:ext uri="{FF2B5EF4-FFF2-40B4-BE49-F238E27FC236}">
                <a16:creationId xmlns:a16="http://schemas.microsoft.com/office/drawing/2014/main" id="{0948E5EC-910E-B8C5-39D2-E2E25C61F4FD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907119F3-ECA2-3606-A795-3A9026AB9C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7082" y="5092852"/>
            <a:ext cx="1399297" cy="139929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7558EB6-B94C-298A-5D8A-9D84616611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8589" y="5092852"/>
            <a:ext cx="1399296" cy="1399296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25CAB106-07C3-294B-ED01-F18A339540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2637" y="4887338"/>
            <a:ext cx="1810324" cy="1810324"/>
          </a:xfrm>
          <a:prstGeom prst="rect">
            <a:avLst/>
          </a:prstGeom>
        </p:spPr>
      </p:pic>
      <p:pic>
        <p:nvPicPr>
          <p:cNvPr id="12" name="Imagem 11" descr="Código QR&#10;&#10;O conteúdo gerado por IA pode estar incorreto.">
            <a:extLst>
              <a:ext uri="{FF2B5EF4-FFF2-40B4-BE49-F238E27FC236}">
                <a16:creationId xmlns:a16="http://schemas.microsoft.com/office/drawing/2014/main" id="{5E52E3A1-9551-2A7B-C96B-451DE779C1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5486" y="1139960"/>
            <a:ext cx="2665502" cy="266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1793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519205"/>
            <a:ext cx="11810999" cy="1902059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MCP: uma visão geral</a:t>
            </a:r>
            <a:endParaRPr lang="pt-B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Implementando </a:t>
            </a: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MCPs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 na plataforma .NET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  <a:endParaRPr lang="pt-BR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D4A8EC62-2CDF-3077-773B-22FCC71614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7082" y="4716462"/>
            <a:ext cx="1399297" cy="139929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174B1C7-4482-93D8-2842-C355D135A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8589" y="4716462"/>
            <a:ext cx="1399296" cy="139929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49112DB-7701-46C7-581D-CC60E94224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2637" y="4510948"/>
            <a:ext cx="1810324" cy="181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E85D-263C-3C80-8BED-DD8321A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F94C3-8BE8-C5F2-9E16-2ABE55CC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27CA1-1460-0AB0-5B37-8B577DD25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6553199" cy="4616648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494949"/>
                </a:solidFill>
              </a:rPr>
              <a:t>Model </a:t>
            </a:r>
            <a:r>
              <a:rPr lang="pt-BR" sz="2400" b="1" dirty="0" err="1">
                <a:solidFill>
                  <a:srgbClr val="494949"/>
                </a:solidFill>
              </a:rPr>
              <a:t>Context</a:t>
            </a:r>
            <a:r>
              <a:rPr lang="pt-BR" sz="2400" b="1" dirty="0">
                <a:solidFill>
                  <a:srgbClr val="494949"/>
                </a:solidFill>
              </a:rPr>
              <a:t> </a:t>
            </a:r>
            <a:r>
              <a:rPr lang="pt-BR" sz="2400" b="1" dirty="0" err="1">
                <a:solidFill>
                  <a:srgbClr val="494949"/>
                </a:solidFill>
              </a:rPr>
              <a:t>Protocol</a:t>
            </a:r>
            <a:endParaRPr lang="pt-BR" sz="2400" b="1" dirty="0" err="1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cs typeface="Segoe UI Light"/>
              </a:rPr>
              <a:t>Anunciado pela 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Anthropic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em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Novembro/2024</a:t>
            </a: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cs typeface="Segoe UI Light"/>
              </a:rPr>
              <a:t>Passagem oficial do projeto MCP para a administração da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Linux Foundation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, via 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Agentic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 AI Foundation (AAIF)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cs typeface="Segoe UI Light"/>
              </a:rPr>
              <a:t>Uma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padronização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para simplificar a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integração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das mais variadas soluções com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modelos de Inteligência Artificial</a:t>
            </a: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6A610AA7-3EF9-9798-DAFB-ED13160AB7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5638" y="982662"/>
            <a:ext cx="2976742" cy="297674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21BA9BF-71B1-C0E7-5B43-817E70762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008" y="4508679"/>
            <a:ext cx="3048001" cy="102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01983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C0CD-759D-9F22-9F98-9DDBDE50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DA6FD-B992-D4A0-31F4-E5A00B4A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2CAF56-ACD5-C567-86CE-045323DE5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7315200" cy="419191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Analogia com uma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"porta USB"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Protocolo aberto 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que enfatiza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 flexibilidade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Comunicação via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STDIO x HTTP/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Streams</a:t>
            </a: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Suporte a desenvolvimento nas principais </a:t>
            </a:r>
            <a:r>
              <a:rPr lang="pt-BR" sz="2800" dirty="0" err="1">
                <a:solidFill>
                  <a:srgbClr val="494949"/>
                </a:solidFill>
                <a:ea typeface="+mj-lt"/>
                <a:cs typeface="+mj-lt"/>
              </a:rPr>
              <a:t>stacks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: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.NET, Java, Node/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Typescript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Python, Go, Swift,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Kotlin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Ruby...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23B21264-AF6C-E4A0-D71E-0CFFCD2D77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5807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CF09-8A3B-70DB-AFAE-180D1720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80620-0D39-4DD4-360E-A7231E8E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511E3B-D003-7CC0-AB92-20CA1C987A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31775"/>
            <a:ext cx="7315200" cy="347172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Servers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costumam ser distribuídos como </a:t>
            </a:r>
            <a:r>
              <a:rPr lang="pt-BR" sz="2400" dirty="0" err="1">
                <a:solidFill>
                  <a:srgbClr val="494949"/>
                </a:solidFill>
                <a:ea typeface="+mj-lt"/>
                <a:cs typeface="+mj-lt"/>
              </a:rPr>
              <a:t>packages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(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npm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NuGet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...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) ou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imagens Docker</a:t>
            </a:r>
            <a:endParaRPr lang="pt-BR" sz="24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Há a possibilidade de uso também de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executáveis</a:t>
            </a:r>
          </a:p>
          <a:p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Fácil integração com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Visual Studio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Code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/GitHub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Copilot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Claude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e outras 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oluções de IA que ofereçam funcionalidades de chat (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como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Microsoft Agent Framework)</a:t>
            </a:r>
            <a:endParaRPr lang="pt-BR" sz="24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6240406-331D-F8B7-79C8-32D2174100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56637" y="906462"/>
            <a:ext cx="2763926" cy="2763926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1AEC146B-8488-8714-C71C-12592CC3C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583" y="4370000"/>
            <a:ext cx="1231908" cy="1231908"/>
          </a:xfrm>
          <a:prstGeom prst="rect">
            <a:avLst/>
          </a:prstGeom>
        </p:spPr>
      </p:pic>
      <p:pic>
        <p:nvPicPr>
          <p:cNvPr id="6" name="Imagem 5" descr="Desenho de cachorro&#10;&#10;O conteúdo gerado por IA pode estar incorreto.">
            <a:extLst>
              <a:ext uri="{FF2B5EF4-FFF2-40B4-BE49-F238E27FC236}">
                <a16:creationId xmlns:a16="http://schemas.microsoft.com/office/drawing/2014/main" id="{539DF2CE-08A2-0E4D-715D-4F9C134BC8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437" y="3995265"/>
            <a:ext cx="1981379" cy="198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818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32A1-5022-69D7-ED00-04D02EEA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35DFF-16FA-9D5C-7C89-6AB54C37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pic>
        <p:nvPicPr>
          <p:cNvPr id="7" name="Imagem 6" descr="https://learn.microsoft.com/en-us/dotnet/ai/media/mcp/model-context-protocol-architecture-diagram.png">
            <a:extLst>
              <a:ext uri="{FF2B5EF4-FFF2-40B4-BE49-F238E27FC236}">
                <a16:creationId xmlns:a16="http://schemas.microsoft.com/office/drawing/2014/main" id="{89D488E2-5518-3E6D-97B3-0345FD3A0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72" y="1412580"/>
            <a:ext cx="11629155" cy="495076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72F936-805A-3464-E8C6-DED9AC0F647D}"/>
              </a:ext>
            </a:extLst>
          </p:cNvPr>
          <p:cNvSpPr txBox="1">
            <a:spLocks/>
          </p:cNvSpPr>
          <p:nvPr/>
        </p:nvSpPr>
        <p:spPr>
          <a:xfrm>
            <a:off x="826371" y="5583255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2400" b="1">
                <a:solidFill>
                  <a:schemeClr val="accent3">
                    <a:lumMod val="75000"/>
                  </a:schemeClr>
                </a:solidFill>
                <a:cs typeface="Segoe UI"/>
              </a:rPr>
              <a:t>Fonte: Microsoft</a:t>
            </a:r>
            <a:endParaRPr lang="pt-BR" sz="2400" b="1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32643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Implementando MCPs com .NET</a:t>
            </a:r>
            <a:endParaRPr lang="pt-BR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8686799" cy="348403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ea typeface="+mj-lt"/>
                <a:cs typeface="+mj-lt"/>
              </a:rPr>
              <a:t>Implementações baseadas nos </a:t>
            </a:r>
            <a:r>
              <a:rPr lang="pt-BR" sz="3200" b="1" dirty="0" err="1">
                <a:solidFill>
                  <a:srgbClr val="494949"/>
                </a:solidFill>
                <a:ea typeface="+mj-lt"/>
                <a:cs typeface="+mj-lt"/>
              </a:rPr>
              <a:t>packages</a:t>
            </a:r>
            <a:r>
              <a:rPr lang="pt-BR" sz="3200" b="1" dirty="0">
                <a:solidFill>
                  <a:srgbClr val="494949"/>
                </a:solidFill>
                <a:ea typeface="+mj-lt"/>
                <a:cs typeface="+mj-lt"/>
              </a:rPr>
              <a:t> </a:t>
            </a:r>
            <a:r>
              <a:rPr lang="pt-BR" sz="3200" b="1" dirty="0" err="1">
                <a:solidFill>
                  <a:srgbClr val="494949"/>
                </a:solidFill>
                <a:ea typeface="+mj-lt"/>
                <a:cs typeface="+mj-lt"/>
              </a:rPr>
              <a:t>ModelContextProtocol</a:t>
            </a:r>
            <a:r>
              <a:rPr lang="pt-BR" sz="3200" b="1" dirty="0">
                <a:solidFill>
                  <a:srgbClr val="494949"/>
                </a:solidFill>
                <a:ea typeface="+mj-lt"/>
                <a:cs typeface="+mj-lt"/>
              </a:rPr>
              <a:t> e </a:t>
            </a:r>
            <a:r>
              <a:rPr lang="pt-BR" sz="3200" b="1" dirty="0" err="1">
                <a:solidFill>
                  <a:srgbClr val="494949"/>
                </a:solidFill>
                <a:ea typeface="+mj-lt"/>
                <a:cs typeface="+mj-lt"/>
              </a:rPr>
              <a:t>ModelContextProtocol.AspNetCore</a:t>
            </a:r>
            <a:endParaRPr lang="pt-BR" sz="32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cs typeface="Segoe UI Light"/>
              </a:rPr>
              <a:t>Possibilidade de </a:t>
            </a:r>
            <a:r>
              <a:rPr lang="pt-BR" sz="3200" dirty="0" err="1">
                <a:solidFill>
                  <a:srgbClr val="494949"/>
                </a:solidFill>
                <a:cs typeface="Segoe UI Light"/>
              </a:rPr>
              <a:t>deployment</a:t>
            </a:r>
            <a:r>
              <a:rPr lang="pt-BR" sz="3200" dirty="0">
                <a:solidFill>
                  <a:srgbClr val="494949"/>
                </a:solidFill>
                <a:cs typeface="Segoe UI Light"/>
              </a:rPr>
              <a:t> como uma 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Global Tool (</a:t>
            </a:r>
            <a:r>
              <a:rPr lang="pt-BR" sz="3200" b="1" dirty="0" err="1">
                <a:solidFill>
                  <a:srgbClr val="494949"/>
                </a:solidFill>
                <a:cs typeface="Segoe UI Light"/>
              </a:rPr>
              <a:t>package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 </a:t>
            </a:r>
            <a:r>
              <a:rPr lang="pt-BR" sz="3200" b="1" dirty="0" err="1">
                <a:solidFill>
                  <a:srgbClr val="494949"/>
                </a:solidFill>
                <a:cs typeface="Segoe UI Light"/>
              </a:rPr>
              <a:t>NuGet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)</a:t>
            </a:r>
            <a:r>
              <a:rPr lang="pt-BR" sz="3200" dirty="0">
                <a:solidFill>
                  <a:srgbClr val="494949"/>
                </a:solidFill>
                <a:cs typeface="Segoe UI Light"/>
              </a:rPr>
              <a:t> ou 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container (Web App </a:t>
            </a:r>
            <a:r>
              <a:rPr lang="pt-BR" sz="3200" dirty="0">
                <a:solidFill>
                  <a:srgbClr val="494949"/>
                </a:solidFill>
                <a:cs typeface="Segoe UI Light"/>
              </a:rPr>
              <a:t>ou </a:t>
            </a:r>
            <a:r>
              <a:rPr lang="pt-BR" sz="3200" b="1" dirty="0" err="1">
                <a:solidFill>
                  <a:srgbClr val="494949"/>
                </a:solidFill>
                <a:cs typeface="Segoe UI Light"/>
              </a:rPr>
              <a:t>stdio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)</a:t>
            </a: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00E076CF-6849-3DA8-CB10-7368BA7A2E2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75F8FDE8-F194-818D-4E01-BEDB90AAA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0522" y="3254814"/>
            <a:ext cx="1399296" cy="139929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59DA0-E308-6936-C798-60B56060D5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7027" y="4792662"/>
            <a:ext cx="1810324" cy="181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2657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DDCD-A12A-02A5-F00D-EE28511E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50085-E9E2-4651-B6AC-01CC0A71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Implementando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 com .NET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F062D3-3D68-72BB-E568-5DEA5495D4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1262"/>
            <a:ext cx="8686799" cy="605704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Novo </a:t>
            </a:r>
            <a:r>
              <a:rPr lang="pt-BR" sz="2800" b="1" dirty="0" err="1">
                <a:solidFill>
                  <a:srgbClr val="494949"/>
                </a:solidFill>
              </a:rPr>
              <a:t>template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dirty="0">
                <a:solidFill>
                  <a:srgbClr val="494949"/>
                </a:solidFill>
              </a:rPr>
              <a:t>para </a:t>
            </a:r>
            <a:r>
              <a:rPr lang="pt-BR" sz="2800" b="1" dirty="0">
                <a:solidFill>
                  <a:srgbClr val="494949"/>
                </a:solidFill>
              </a:rPr>
              <a:t>MCP Servers</a:t>
            </a:r>
            <a:r>
              <a:rPr lang="pt-BR" sz="2800" dirty="0">
                <a:solidFill>
                  <a:srgbClr val="494949"/>
                </a:solidFill>
              </a:rPr>
              <a:t> </a:t>
            </a:r>
            <a:r>
              <a:rPr lang="pt-BR" sz="2800" b="1" dirty="0">
                <a:solidFill>
                  <a:srgbClr val="494949"/>
                </a:solidFill>
              </a:rPr>
              <a:t>(ainda em Preview):</a:t>
            </a:r>
            <a:endParaRPr lang="pt-BR" sz="2800" b="1" dirty="0">
              <a:solidFill>
                <a:srgbClr val="494949"/>
              </a:solidFill>
              <a:cs typeface="Segoe UI Light"/>
            </a:endParaRPr>
          </a:p>
          <a:p>
            <a:br>
              <a:rPr lang="pt-BR" sz="28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install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Microsoft.McpServer.ProjectTemplates</a:t>
            </a:r>
            <a:endParaRPr lang="pt-BR" sz="20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Template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para MCP:</a:t>
            </a: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br>
              <a:rPr lang="pt-BR" sz="20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 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mcpserver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–n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SampleMCP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Execução de </a:t>
            </a: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package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</a:t>
            </a: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NuGet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sem instalação:</a:t>
            </a: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br>
              <a:rPr lang="pt-BR" sz="20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dnx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SampleMCP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endParaRPr lang="pt-BR" sz="2000" b="1" dirty="0">
              <a:solidFill>
                <a:srgbClr val="494949"/>
              </a:soli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3E3A1D2-A295-84AA-4909-A7CBFADF43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F548AF5F-8B15-DE8F-348C-05329F397A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0522" y="3254814"/>
            <a:ext cx="1399296" cy="139929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15FADF2C-EFD5-D0D6-0D27-5E8A1D0673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7027" y="4792662"/>
            <a:ext cx="1810324" cy="181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5166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7470-A0EF-43D2-DB74-3EEB2EB1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60FB1-70F6-A534-8187-CA93CF731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Segurança em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F7E182-EC8E-223B-9B51-8FAA82786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951950"/>
            <a:ext cx="8686799" cy="4019562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Fluxos de autenticação baseados no uso de </a:t>
            </a:r>
            <a:r>
              <a:rPr lang="pt-BR" sz="2800" b="1" dirty="0" err="1">
                <a:solidFill>
                  <a:srgbClr val="494949"/>
                </a:solidFill>
              </a:rPr>
              <a:t>OAuth</a:t>
            </a:r>
            <a:r>
              <a:rPr lang="pt-BR" sz="2800" b="1" dirty="0">
                <a:solidFill>
                  <a:srgbClr val="494949"/>
                </a:solidFill>
              </a:rPr>
              <a:t> 2.0</a:t>
            </a:r>
            <a:r>
              <a:rPr lang="pt-BR" sz="2800" dirty="0">
                <a:solidFill>
                  <a:srgbClr val="494949"/>
                </a:solidFill>
              </a:rPr>
              <a:t> e </a:t>
            </a:r>
            <a:r>
              <a:rPr lang="pt-BR" sz="2800" b="1" dirty="0">
                <a:solidFill>
                  <a:srgbClr val="494949"/>
                </a:solidFill>
              </a:rPr>
              <a:t>JWT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Possibilidade de utilização de </a:t>
            </a:r>
            <a:r>
              <a:rPr lang="pt-BR" sz="2800" b="1" dirty="0">
                <a:solidFill>
                  <a:srgbClr val="494949"/>
                </a:solidFill>
              </a:rPr>
              <a:t>API Gateways </a:t>
            </a:r>
            <a:r>
              <a:rPr lang="pt-BR" sz="2800" dirty="0">
                <a:solidFill>
                  <a:srgbClr val="494949"/>
                </a:solidFill>
              </a:rPr>
              <a:t>como o </a:t>
            </a:r>
            <a:r>
              <a:rPr lang="pt-BR" sz="2800" b="1" dirty="0">
                <a:solidFill>
                  <a:srgbClr val="494949"/>
                </a:solidFill>
              </a:rPr>
              <a:t>Azure API Management </a:t>
            </a:r>
            <a:r>
              <a:rPr lang="pt-BR" sz="2800" dirty="0">
                <a:solidFill>
                  <a:srgbClr val="494949"/>
                </a:solidFill>
              </a:rPr>
              <a:t>definindo políticas de acesso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Boas práticas de segurança foram agrupadas na iniciativa </a:t>
            </a:r>
            <a:r>
              <a:rPr lang="pt-BR" sz="2800" b="1" dirty="0">
                <a:solidFill>
                  <a:srgbClr val="494949"/>
                </a:solidFill>
              </a:rPr>
              <a:t>OWASP MCP Top 10</a:t>
            </a:r>
            <a:endParaRPr lang="pt-BR" sz="28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966DD86C-0012-1FC1-F2C1-D836174AE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5917" y="3120108"/>
            <a:ext cx="1828800" cy="1828800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6D4A0726-EAC5-0353-2F57-5CCF9FEE759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457BB39-AA8D-497B-0970-65A7F9051E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1631" y="5108999"/>
            <a:ext cx="1622640" cy="16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082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12E8-8A67-81C1-4E30-8325E482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BCA11-D2DD-1C2C-7A7E-4029ED67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Segurança em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063706-F507-73F7-A881-0382AA66A4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66150"/>
            <a:ext cx="8686799" cy="371794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494949"/>
                </a:solidFill>
              </a:rPr>
              <a:t>APIsec</a:t>
            </a:r>
            <a:r>
              <a:rPr lang="en-US" sz="2800" b="1" dirty="0">
                <a:solidFill>
                  <a:srgbClr val="494949"/>
                </a:solidFill>
              </a:rPr>
              <a:t> MCP Discovery and Audit </a:t>
            </a:r>
            <a:r>
              <a:rPr lang="en-US" sz="2800" dirty="0" err="1">
                <a:solidFill>
                  <a:srgbClr val="494949"/>
                </a:solidFill>
              </a:rPr>
              <a:t>detectando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configurações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em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repositórios</a:t>
            </a: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94949"/>
                </a:solidFill>
              </a:rPr>
              <a:t>Docker MCP Catalog</a:t>
            </a:r>
            <a:r>
              <a:rPr lang="en-US" sz="2800" dirty="0">
                <a:solidFill>
                  <a:srgbClr val="494949"/>
                </a:solidFill>
              </a:rPr>
              <a:t> com MCP Servers </a:t>
            </a:r>
            <a:r>
              <a:rPr lang="en-US" sz="2800" dirty="0" err="1">
                <a:solidFill>
                  <a:srgbClr val="494949"/>
                </a:solidFill>
              </a:rPr>
              <a:t>considerados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seguros</a:t>
            </a: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788D03C-9B5B-44BE-94A2-A7C6B8102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5917" y="3120108"/>
            <a:ext cx="1828800" cy="1828800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CA8DA3F8-8662-EDE7-E640-CB3B421888B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91B745FE-3E23-21AC-E022-414C1D1C44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93097" y="5214813"/>
            <a:ext cx="1642417" cy="129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343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851E-6EE8-04C1-8FCF-EACF1AE0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9F956-C301-F579-E111-0FDB5319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Testes em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FB710E-F243-6DD6-AFEC-339CCEEECB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951950"/>
            <a:ext cx="8686799" cy="229601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O </a:t>
            </a:r>
            <a:r>
              <a:rPr lang="pt-BR" sz="2800" b="1" dirty="0" err="1">
                <a:solidFill>
                  <a:srgbClr val="494949"/>
                </a:solidFill>
              </a:rPr>
              <a:t>Grafana</a:t>
            </a:r>
            <a:r>
              <a:rPr lang="pt-BR" sz="2800" b="1" dirty="0">
                <a:solidFill>
                  <a:srgbClr val="494949"/>
                </a:solidFill>
              </a:rPr>
              <a:t> k6</a:t>
            </a:r>
            <a:r>
              <a:rPr lang="pt-BR" sz="2800" dirty="0">
                <a:solidFill>
                  <a:srgbClr val="494949"/>
                </a:solidFill>
              </a:rPr>
              <a:t> é uma alternativa open </a:t>
            </a:r>
            <a:r>
              <a:rPr lang="pt-BR" sz="2800" dirty="0" err="1">
                <a:solidFill>
                  <a:srgbClr val="494949"/>
                </a:solidFill>
              </a:rPr>
              <a:t>source</a:t>
            </a:r>
            <a:r>
              <a:rPr lang="pt-BR" sz="2800" dirty="0">
                <a:solidFill>
                  <a:srgbClr val="494949"/>
                </a:solidFill>
              </a:rPr>
              <a:t> para testes validando </a:t>
            </a:r>
            <a:r>
              <a:rPr lang="pt-BR" sz="2800" b="1" dirty="0">
                <a:solidFill>
                  <a:srgbClr val="494949"/>
                </a:solidFill>
              </a:rPr>
              <a:t>MCP Servers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Automações podem ser realizadas via </a:t>
            </a:r>
            <a:r>
              <a:rPr lang="pt-BR" sz="2800" b="1" dirty="0">
                <a:solidFill>
                  <a:srgbClr val="494949"/>
                </a:solidFill>
              </a:rPr>
              <a:t>Azure </a:t>
            </a:r>
            <a:r>
              <a:rPr lang="pt-BR" sz="2800" b="1" dirty="0" err="1">
                <a:solidFill>
                  <a:srgbClr val="494949"/>
                </a:solidFill>
              </a:rPr>
              <a:t>DevOps</a:t>
            </a:r>
            <a:r>
              <a:rPr lang="pt-BR" sz="2800" dirty="0">
                <a:solidFill>
                  <a:srgbClr val="494949"/>
                </a:solidFill>
              </a:rPr>
              <a:t> ou </a:t>
            </a:r>
            <a:r>
              <a:rPr lang="pt-BR" sz="2800" b="1" dirty="0">
                <a:solidFill>
                  <a:srgbClr val="494949"/>
                </a:solidFill>
              </a:rPr>
              <a:t>GitHub </a:t>
            </a:r>
            <a:r>
              <a:rPr lang="pt-BR" sz="2800" b="1" dirty="0" err="1">
                <a:solidFill>
                  <a:srgbClr val="494949"/>
                </a:solidFill>
              </a:rPr>
              <a:t>Actions</a:t>
            </a: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444AD451-F444-0476-B1CE-1DFC063110A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7DCA3589-7B9D-FAE7-19A6-CE7317D0F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551" y="3041654"/>
            <a:ext cx="1559289" cy="150861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2C223F9-A37A-68A0-7258-E7B8426DD6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2865" y="4792662"/>
            <a:ext cx="1626218" cy="162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8041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6EEB-C146-3675-EA14-BD45B471F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64ECC-3858-9CF0-B5D7-510B6FF6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Observabilidade</a:t>
            </a:r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 e Monitoramento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83B479-87AF-F1C5-116C-7A9F3D4CE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516062"/>
            <a:ext cx="8686799" cy="4795159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Soluções voltadas à implementação de projetos de </a:t>
            </a:r>
            <a:r>
              <a:rPr lang="pt-BR" sz="2800" b="1" dirty="0">
                <a:solidFill>
                  <a:srgbClr val="494949"/>
                </a:solidFill>
              </a:rPr>
              <a:t>Inteligência Artificial</a:t>
            </a:r>
            <a:r>
              <a:rPr lang="pt-BR" sz="2800" dirty="0">
                <a:solidFill>
                  <a:srgbClr val="494949"/>
                </a:solidFill>
              </a:rPr>
              <a:t> (incluindo </a:t>
            </a:r>
            <a:r>
              <a:rPr lang="pt-BR" sz="2800" b="1" dirty="0">
                <a:solidFill>
                  <a:srgbClr val="494949"/>
                </a:solidFill>
              </a:rPr>
              <a:t>MCP Servers</a:t>
            </a:r>
            <a:r>
              <a:rPr lang="pt-BR" sz="2800" dirty="0">
                <a:solidFill>
                  <a:srgbClr val="494949"/>
                </a:solidFill>
              </a:rPr>
              <a:t>) têm adotado o </a:t>
            </a:r>
            <a:r>
              <a:rPr lang="pt-BR" sz="2800" b="1" dirty="0" err="1">
                <a:solidFill>
                  <a:srgbClr val="494949"/>
                </a:solidFill>
              </a:rPr>
              <a:t>OpenTelemetry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dirty="0">
                <a:solidFill>
                  <a:srgbClr val="494949"/>
                </a:solidFill>
              </a:rPr>
              <a:t>como padrão para </a:t>
            </a:r>
            <a:r>
              <a:rPr lang="pt-BR" sz="2800" dirty="0" err="1">
                <a:solidFill>
                  <a:srgbClr val="494949"/>
                </a:solidFill>
              </a:rPr>
              <a:t>Observabilidade</a:t>
            </a: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Traces, métricas</a:t>
            </a:r>
            <a:r>
              <a:rPr lang="pt-BR" sz="2800" dirty="0">
                <a:solidFill>
                  <a:srgbClr val="494949"/>
                </a:solidFill>
              </a:rPr>
              <a:t> e </a:t>
            </a:r>
            <a:r>
              <a:rPr lang="pt-BR" sz="2800" b="1" dirty="0">
                <a:solidFill>
                  <a:srgbClr val="494949"/>
                </a:solidFill>
              </a:rPr>
              <a:t>logs </a:t>
            </a:r>
            <a:r>
              <a:rPr lang="pt-BR" sz="2800" dirty="0">
                <a:solidFill>
                  <a:srgbClr val="494949"/>
                </a:solidFill>
              </a:rPr>
              <a:t>podem ser coletados com pouquíssimo esforço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Azure Monitor/</a:t>
            </a:r>
            <a:r>
              <a:rPr lang="pt-BR" sz="2800" b="1" dirty="0" err="1">
                <a:solidFill>
                  <a:srgbClr val="494949"/>
                </a:solidFill>
              </a:rPr>
              <a:t>Application</a:t>
            </a:r>
            <a:r>
              <a:rPr lang="pt-BR" sz="2800" b="1" dirty="0">
                <a:solidFill>
                  <a:srgbClr val="494949"/>
                </a:solidFill>
              </a:rPr>
              <a:t> Insights</a:t>
            </a:r>
            <a:r>
              <a:rPr lang="pt-BR" sz="2800" dirty="0">
                <a:solidFill>
                  <a:srgbClr val="494949"/>
                </a:solidFill>
              </a:rPr>
              <a:t> e </a:t>
            </a:r>
            <a:r>
              <a:rPr lang="pt-BR" sz="2800" b="1" dirty="0" err="1">
                <a:solidFill>
                  <a:srgbClr val="494949"/>
                </a:solidFill>
              </a:rPr>
              <a:t>Grafana</a:t>
            </a:r>
            <a:r>
              <a:rPr lang="pt-BR" sz="2800" dirty="0">
                <a:solidFill>
                  <a:srgbClr val="494949"/>
                </a:solidFill>
              </a:rPr>
              <a:t> são exemplos de soluções com suporte a </a:t>
            </a:r>
            <a:r>
              <a:rPr lang="pt-BR" sz="2800" b="1" dirty="0" err="1">
                <a:solidFill>
                  <a:srgbClr val="494949"/>
                </a:solidFill>
              </a:rPr>
              <a:t>OpenTelemetry</a:t>
            </a: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969BC503-A5C5-E9D7-126C-97C2A99F02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7E3FC2BF-4CDE-8437-C0C1-AA484C52B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637" y="3268662"/>
            <a:ext cx="1364780" cy="138112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91CB276-F659-2399-FFD3-FEE180D92E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9637" y="4838969"/>
            <a:ext cx="1451505" cy="15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6217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7646A-2E67-CC59-5FC2-E7A103AC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AAF2CEA3-94DB-24B3-0363-4543450C5DBE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4E51763-EB4E-EE7E-B063-5E00719420E2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0C0862C-4598-7E87-0AB3-50164268B5A7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11AE81-B8F0-2410-4695-590E70D6E5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44767CCD-5F3D-C214-59DB-D605063B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654508"/>
            <a:ext cx="4876800" cy="2179058"/>
          </a:xfrm>
        </p:spPr>
        <p:txBody>
          <a:bodyPr/>
          <a:lstStyle/>
          <a:p>
            <a:r>
              <a:rPr lang="pt-BR" dirty="0">
                <a:gradFill>
                  <a:gsLst>
                    <a:gs pos="6195">
                      <a:srgbClr val="FFFFFF"/>
                    </a:gs>
                    <a:gs pos="24779">
                      <a:srgbClr val="FFFFFF"/>
                    </a:gs>
                  </a:gsLst>
                  <a:lin ang="5400000" scaled="0"/>
                </a:gradFill>
                <a:cs typeface="Segoe UI"/>
              </a:rPr>
              <a:t>EXEMPLOS PRÁTICOS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57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4D3B-7976-3FCD-5701-9E030E083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E3BCE-CB1B-D84F-FF29-D306CD42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DCAE2F2-9A54-36F0-BFA8-CE6152306C23}"/>
              </a:ext>
            </a:extLst>
          </p:cNvPr>
          <p:cNvSpPr>
            <a:spLocks noGrp="1"/>
          </p:cNvSpPr>
          <p:nvPr/>
        </p:nvSpPr>
        <p:spPr>
          <a:xfrm>
            <a:off x="1227137" y="4030662"/>
            <a:ext cx="9982201" cy="61401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100" b="1" dirty="0">
                <a:solidFill>
                  <a:schemeClr val="bg1"/>
                </a:solidFill>
              </a:rPr>
              <a:t>github.com/renatogroffe/mcp-dotnet10_devpira-2026-01</a:t>
            </a:r>
          </a:p>
        </p:txBody>
      </p:sp>
      <p:sp>
        <p:nvSpPr>
          <p:cNvPr id="3" name="Nosso Propsito">
            <a:extLst>
              <a:ext uri="{FF2B5EF4-FFF2-40B4-BE49-F238E27FC236}">
                <a16:creationId xmlns:a16="http://schemas.microsoft.com/office/drawing/2014/main" id="{FCDDD618-D144-9CCC-E9C2-EAB0D0C08EA4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D33FFD36-FCBB-7069-4E7F-6CED0672FE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7082" y="5092852"/>
            <a:ext cx="1399297" cy="139929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060D70C-01D4-B940-5E29-E4D3EEA581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8589" y="5092852"/>
            <a:ext cx="1399296" cy="1399296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2ED4960A-C3E7-883A-980C-DF16C9462D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2637" y="4887338"/>
            <a:ext cx="1810324" cy="1810324"/>
          </a:xfrm>
          <a:prstGeom prst="rect">
            <a:avLst/>
          </a:prstGeom>
        </p:spPr>
      </p:pic>
      <p:pic>
        <p:nvPicPr>
          <p:cNvPr id="12" name="Imagem 11" descr="Código QR&#10;&#10;O conteúdo gerado por IA pode estar incorreto.">
            <a:extLst>
              <a:ext uri="{FF2B5EF4-FFF2-40B4-BE49-F238E27FC236}">
                <a16:creationId xmlns:a16="http://schemas.microsoft.com/office/drawing/2014/main" id="{8CDEC8EC-275E-3287-9B62-C8B6C0F9B9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5486" y="1139960"/>
            <a:ext cx="2665502" cy="266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3928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E5AD-2090-69C8-FD96-59992D05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A5E69-6524-FF0E-A661-C4A596C2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D8D5F901-A3B9-4C2A-D3B3-8CD578CC404F}"/>
              </a:ext>
            </a:extLst>
          </p:cNvPr>
          <p:cNvSpPr>
            <a:spLocks noGrp="1"/>
          </p:cNvSpPr>
          <p:nvPr/>
        </p:nvSpPr>
        <p:spPr>
          <a:xfrm>
            <a:off x="1227137" y="5861998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EE34E785-C649-0254-29C6-7C7E00FA0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37" y="1560075"/>
            <a:ext cx="3874373" cy="3874373"/>
          </a:xfrm>
          <a:prstGeom prst="rect">
            <a:avLst/>
          </a:prstGeom>
        </p:spPr>
      </p:pic>
      <p:pic>
        <p:nvPicPr>
          <p:cNvPr id="5" name="Imagem 4" descr="Placa azul com letras brancas em fundo preto&#10;&#10;O conteúdo gerado por IA pode estar incorreto.">
            <a:extLst>
              <a:ext uri="{FF2B5EF4-FFF2-40B4-BE49-F238E27FC236}">
                <a16:creationId xmlns:a16="http://schemas.microsoft.com/office/drawing/2014/main" id="{B94CD729-1B32-8CAC-902E-0BAD306F1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37" y="1363662"/>
            <a:ext cx="3874374" cy="38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3666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3065</TotalTime>
  <Words>1138</Words>
  <Application>Microsoft Office PowerPoint</Application>
  <PresentationFormat>Personalizar</PresentationFormat>
  <Paragraphs>162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19</vt:i4>
      </vt:variant>
    </vt:vector>
  </HeadingPairs>
  <TitlesOfParts>
    <vt:vector size="31" baseType="lpstr">
      <vt:lpstr>Arial</vt:lpstr>
      <vt:lpstr>Arial,Sans-Serif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MCPs + .NET 10 Da implementação ao gerenciamento das integrações com IA</vt:lpstr>
      <vt:lpstr>Renato Groffe</vt:lpstr>
      <vt:lpstr>Certificações Gratuitas em Segurança</vt:lpstr>
      <vt:lpstr>Conteúdos desta apresentação</vt:lpstr>
      <vt:lpstr>Agenda</vt:lpstr>
      <vt:lpstr>MCP: uma visão geral</vt:lpstr>
      <vt:lpstr>MCP: uma visão geral</vt:lpstr>
      <vt:lpstr>MCP: uma visão geral</vt:lpstr>
      <vt:lpstr>MCP: uma visão geral</vt:lpstr>
      <vt:lpstr>Implementando MCPs com .NET</vt:lpstr>
      <vt:lpstr>Implementando MCPs com .NET </vt:lpstr>
      <vt:lpstr>Segurança em MCPs </vt:lpstr>
      <vt:lpstr>Segurança em MCPs </vt:lpstr>
      <vt:lpstr>Testes em MCPs </vt:lpstr>
      <vt:lpstr>Observabilidade e Monitoramento </vt:lpstr>
      <vt:lpstr>EXEMPLOS PRÁTICOS</vt:lpstr>
      <vt:lpstr>Conteúdos desta apresentação</vt:lpstr>
      <vt:lpstr>Certificações Gratuitas em Segurança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1036</cp:revision>
  <dcterms:created xsi:type="dcterms:W3CDTF">2016-08-05T22:03:34Z</dcterms:created>
  <dcterms:modified xsi:type="dcterms:W3CDTF">2026-01-10T10:18:28Z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